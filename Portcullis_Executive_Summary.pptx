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2F7F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no-permissions</c:v>
                  </c:pt>
                  <c:pt idx="1">
                    <c:v>unpinned-action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reports</c:v>
                </c:pt>
              </c:strCache>
            </c:strRef>
          </c:tx>
          <c:spPr>
            <a:solidFill>
              <a:srgbClr val="0B1F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  <c:pt idx="4">
                    <c:v>None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10</c:v>
                </c:pt>
                <c:pt idx="2">
                  <c:v>15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Tuned corpus</c:v>
                </c:pt>
              </c:strCache>
            </c:strRef>
          </c:tx>
          <c:spPr>
            <a:solidFill>
              <a:srgbClr val="7F8CA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Precision</c:v>
                  </c:pt>
                  <c:pt idx="1">
                    <c:v>Recall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Holdout</c:v>
                </c:pt>
              </c:strCache>
            </c:strRef>
          </c:tx>
          <c:spPr>
            <a:solidFill>
              <a:srgbClr val="2F7F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Precision</c:v>
                  </c:pt>
                  <c:pt idx="1">
                    <c:v>Recall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0.923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Portcullis is a portfolio project built against the Mysten Labs Security Engineer posting. It uses real public data where reachable and says plainly where data is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tuned anti-scam corpus scores 1.0 because it was tuned against; only the holdout is a fair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Signed provenance uses Ed25519 over a deterministic tar with a policy check; tampering with the artifact, statement, key or commit is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reports are invented. No bounty platform was used. The model is a scripted stand-in: the test shows the decision ignores a drafted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Portcullis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1945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Security engineering for a Sui-style ecosystem: run the bounty, close bug classes everywhere, defend the supply chain, catch the scams</a:t>
            </a:r>
            <a:endParaRPr lang="en-US" sz="2000" dirty="0"/>
          </a:p>
        </p:txBody>
      </p:sp>
      <p:sp>
        <p:nvSpPr>
          <p:cNvPr id="4" name="Byline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Python  |  Rust  |  TypeScript  |  Move  |  Semgrep  |  Christian Kouadio Kouassi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that run on real data, with the misses left in</a:t>
            </a:r>
            <a:endParaRPr lang="en-US" sz="2600" dirty="0"/>
          </a:p>
        </p:txBody>
      </p:sp>
      <p:sp>
        <p:nvSpPr>
          <p:cNvPr id="3" name="StatCard1"/>
          <p:cNvSpPr/>
          <p:nvPr/>
        </p:nvSpPr>
        <p:spPr>
          <a:xfrm>
            <a:off x="54864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Value1"/>
          <p:cNvSpPr txBox="1"/>
          <p:nvPr/>
        </p:nvSpPr>
        <p:spPr>
          <a:xfrm>
            <a:off x="77724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40/40</a:t>
            </a:r>
            <a:endParaRPr lang="en-US" sz="3600" dirty="0"/>
          </a:p>
        </p:txBody>
      </p:sp>
      <p:sp>
        <p:nvSpPr>
          <p:cNvPr id="5" name="StatLabel1"/>
          <p:cNvSpPr txBox="1"/>
          <p:nvPr/>
        </p:nvSpPr>
        <p:spPr>
          <a:xfrm>
            <a:off x="777240" y="2029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npm registry signatures verified with the registry's ECDSA keys</a:t>
            </a:r>
            <a:endParaRPr lang="en-US" sz="1300" dirty="0"/>
          </a:p>
        </p:txBody>
      </p:sp>
      <p:sp>
        <p:nvSpPr>
          <p:cNvPr id="6" name="StatCard2"/>
          <p:cNvSpPr/>
          <p:nvPr/>
        </p:nvSpPr>
        <p:spPr>
          <a:xfrm>
            <a:off x="4663440" y="12801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Value2"/>
          <p:cNvSpPr txBox="1"/>
          <p:nvPr/>
        </p:nvSpPr>
        <p:spPr>
          <a:xfrm>
            <a:off x="489204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3600" dirty="0"/>
          </a:p>
        </p:txBody>
      </p:sp>
      <p:sp>
        <p:nvSpPr>
          <p:cNvPr id="8" name="StatLabel2"/>
          <p:cNvSpPr txBox="1"/>
          <p:nvPr/>
        </p:nvSpPr>
        <p:spPr>
          <a:xfrm>
            <a:off x="4892040" y="2029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tarballs match their published sha512; one flipped byte is caught</a:t>
            </a:r>
            <a:endParaRPr lang="en-US" sz="1300" dirty="0"/>
          </a:p>
        </p:txBody>
      </p:sp>
      <p:sp>
        <p:nvSpPr>
          <p:cNvPr id="9" name="StatCard3"/>
          <p:cNvSpPr/>
          <p:nvPr/>
        </p:nvSpPr>
        <p:spPr>
          <a:xfrm>
            <a:off x="54864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Value3"/>
          <p:cNvSpPr txBox="1"/>
          <p:nvPr/>
        </p:nvSpPr>
        <p:spPr>
          <a:xfrm>
            <a:off x="7772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0.923</a:t>
            </a:r>
            <a:endParaRPr lang="en-US" sz="3600" dirty="0"/>
          </a:p>
        </p:txBody>
      </p:sp>
      <p:sp>
        <p:nvSpPr>
          <p:cNvPr id="11" name="StatLabel3"/>
          <p:cNvSpPr txBox="1"/>
          <p:nvPr/>
        </p:nvSpPr>
        <p:spPr>
          <a:xfrm>
            <a:off x="777240" y="36301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recall on an untuned holdout (26 samples), precision 1; one miss, listed</a:t>
            </a:r>
            <a:endParaRPr lang="en-US" sz="1300" dirty="0"/>
          </a:p>
        </p:txBody>
      </p:sp>
      <p:sp>
        <p:nvSpPr>
          <p:cNvPr id="12" name="StatCard4"/>
          <p:cNvSpPr/>
          <p:nvPr/>
        </p:nvSpPr>
        <p:spPr>
          <a:xfrm>
            <a:off x="466344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Value4"/>
          <p:cNvSpPr txBox="1"/>
          <p:nvPr/>
        </p:nvSpPr>
        <p:spPr>
          <a:xfrm>
            <a:off x="48920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600" dirty="0"/>
          </a:p>
        </p:txBody>
      </p:sp>
      <p:sp>
        <p:nvSpPr>
          <p:cNvPr id="14" name="StatLabel4"/>
          <p:cNvSpPr txBox="1"/>
          <p:nvPr/>
        </p:nvSpPr>
        <p:spPr>
          <a:xfrm>
            <a:off x="4892040" y="36301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defects found while building, each a failing test then a separate fix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map onto the six responsibilities in the posting</a:t>
            </a:r>
            <a:endParaRPr lang="en-US" sz="2600" dirty="0"/>
          </a:p>
        </p:txBody>
      </p:sp>
      <p:sp>
        <p:nvSpPr>
          <p:cNvPr id="3" name="Mod1"/>
          <p:cNvSpPr/>
          <p:nvPr/>
        </p:nvSpPr>
        <p:spPr>
          <a:xfrm>
            <a:off x="548640" y="137160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Text1"/>
          <p:cNvSpPr txBox="1"/>
          <p:nvPr/>
        </p:nvSpPr>
        <p:spPr>
          <a:xfrm>
            <a:off x="640080" y="144475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Bounty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triage, severity, SLA, budget</a:t>
            </a:r>
            <a:endParaRPr lang="en-US" sz="1600" dirty="0"/>
          </a:p>
        </p:txBody>
      </p:sp>
      <p:sp>
        <p:nvSpPr>
          <p:cNvPr id="5" name="Mod2"/>
          <p:cNvSpPr/>
          <p:nvPr/>
        </p:nvSpPr>
        <p:spPr>
          <a:xfrm>
            <a:off x="3291840" y="137160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odText2"/>
          <p:cNvSpPr txBox="1"/>
          <p:nvPr/>
        </p:nvSpPr>
        <p:spPr>
          <a:xfrm>
            <a:off x="3383280" y="144475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schedule, findings, retest</a:t>
            </a:r>
            <a:endParaRPr lang="en-US" sz="1600" dirty="0"/>
          </a:p>
        </p:txBody>
      </p:sp>
      <p:sp>
        <p:nvSpPr>
          <p:cNvPr id="7" name="Mod3"/>
          <p:cNvSpPr/>
          <p:nvPr/>
        </p:nvSpPr>
        <p:spPr>
          <a:xfrm>
            <a:off x="6035040" y="137160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ModText3"/>
          <p:cNvSpPr txBox="1"/>
          <p:nvPr/>
        </p:nvSpPr>
        <p:spPr>
          <a:xfrm>
            <a:off x="6126480" y="144475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Rust, TypeScript, Move</a:t>
            </a:r>
            <a:endParaRPr lang="en-US" sz="1600" dirty="0"/>
          </a:p>
        </p:txBody>
      </p:sp>
      <p:sp>
        <p:nvSpPr>
          <p:cNvPr id="9" name="Mod4"/>
          <p:cNvSpPr/>
          <p:nvPr/>
        </p:nvSpPr>
        <p:spPr>
          <a:xfrm>
            <a:off x="548640" y="292608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odText4"/>
          <p:cNvSpPr txBox="1"/>
          <p:nvPr/>
        </p:nvSpPr>
        <p:spPr>
          <a:xfrm>
            <a:off x="640080" y="299923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Supply chain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CI, npm, provenance</a:t>
            </a:r>
            <a:endParaRPr lang="en-US" sz="1600" dirty="0"/>
          </a:p>
        </p:txBody>
      </p:sp>
      <p:sp>
        <p:nvSpPr>
          <p:cNvPr id="11" name="Mod5"/>
          <p:cNvSpPr/>
          <p:nvPr/>
        </p:nvSpPr>
        <p:spPr>
          <a:xfrm>
            <a:off x="3291840" y="292608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dText5"/>
          <p:cNvSpPr txBox="1"/>
          <p:nvPr/>
        </p:nvSpPr>
        <p:spPr>
          <a:xfrm>
            <a:off x="3383280" y="299923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Anti-scam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domains, pages, drainers</a:t>
            </a:r>
            <a:endParaRPr lang="en-US" sz="1600" dirty="0"/>
          </a:p>
        </p:txBody>
      </p:sp>
      <p:sp>
        <p:nvSpPr>
          <p:cNvPr id="13" name="Mod6"/>
          <p:cNvSpPr/>
          <p:nvPr/>
        </p:nvSpPr>
        <p:spPr>
          <a:xfrm>
            <a:off x="6035040" y="292608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dText6"/>
          <p:cNvSpPr txBox="1"/>
          <p:nvPr/>
        </p:nvSpPr>
        <p:spPr>
          <a:xfrm>
            <a:off x="6126480" y="299923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Tooling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Semgrep rules, known-clean</a:t>
            </a:r>
            <a:endParaRPr lang="en-US" sz="1600" dirty="0"/>
          </a:p>
        </p:txBody>
      </p:sp>
      <p:sp>
        <p:nvSpPr>
          <p:cNvPr id="15" name="RuleNote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Design rule: deterministic code decides. Report text is untrusted input and never sets severity, payout or state.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chain: real workflows, real compromises, real keys</a:t>
            </a:r>
            <a:endParaRPr lang="en-US" sz="2600" dirty="0"/>
          </a:p>
        </p:txBody>
      </p:sp>
      <p:graphicFrame>
        <p:nvGraphicFramePr>
          <p:cNvPr id="3" name="WorkflowChart" descr=""/>
          <p:cNvGraphicFramePr/>
          <p:nvPr/>
        </p:nvGraphicFramePr>
        <p:xfrm>
          <a:off x="54864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upplyCard"/>
          <p:cNvSpPr/>
          <p:nvPr/>
        </p:nvSpPr>
        <p:spPr>
          <a:xfrm>
            <a:off x="5943600" y="1280160"/>
            <a:ext cx="2743200" cy="32918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upplyNotes"/>
          <p:cNvSpPr txBox="1"/>
          <p:nvPr/>
        </p:nvSpPr>
        <p:spPr>
          <a:xfrm>
            <a:off x="6080760" y="141732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13 public workflows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5 are clean; the rest are mostly unpinned actions. Aggregate counts, not a verdict on those projects.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Known-bad releases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debug@4.4.2, backslash@0.2.1 and color-name@2.0.1 are matched from real advisories; the real debug@4.4.3 is not.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Bounty triage: a report cannot argue its own severity</a:t>
            </a:r>
            <a:endParaRPr lang="en-US" sz="2600" dirty="0"/>
          </a:p>
        </p:txBody>
      </p:sp>
      <p:graphicFrame>
        <p:nvGraphicFramePr>
          <p:cNvPr id="3" name="BountyChart" descr=""/>
          <p:cNvGraphicFramePr/>
          <p:nvPr/>
        </p:nvGraphicFramePr>
        <p:xfrm>
          <a:off x="548640" y="118872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ountyCard"/>
          <p:cNvSpPr/>
          <p:nvPr/>
        </p:nvSpPr>
        <p:spPr>
          <a:xfrm>
            <a:off x="5760720" y="128016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ountyNotes"/>
          <p:cNvSpPr txBox="1"/>
          <p:nvPr/>
        </p:nvSpPr>
        <p:spPr>
          <a:xfrm>
            <a:off x="5897880" y="141732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40 synthetic reports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4 duplicates found. A report that told the triage agent to mark it critical was flagged and decided as severity none.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Closing the loop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Recurring classes (8) become rules; fixes are accepted only if the PoC reproduces, the fix blocks it and normal input still works.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Anti-scam: tuned scores look perfect, the holdout tells the truth</a:t>
            </a:r>
            <a:endParaRPr lang="en-US" sz="2600" dirty="0"/>
          </a:p>
        </p:txBody>
      </p:sp>
      <p:graphicFrame>
        <p:nvGraphicFramePr>
          <p:cNvPr id="3" name="AbuseChart" descr=""/>
          <p:cNvGraphicFramePr/>
          <p:nvPr/>
        </p:nvGraphicFramePr>
        <p:xfrm>
          <a:off x="548640" y="118872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buseCard"/>
          <p:cNvSpPr/>
          <p:nvPr/>
        </p:nvSpPr>
        <p:spPr>
          <a:xfrm>
            <a:off x="5760720" y="128016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buseNotes"/>
          <p:cNvSpPr txBox="1"/>
          <p:nvPr/>
        </p:nvSpPr>
        <p:spPr>
          <a:xfrm>
            <a:off x="5897880" y="141732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Known-clean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Drainer detectors flagged 0/5 real Sui Move files and 0/113 real npm JavaScript files.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The miss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sulwalet.xyz changes two things at once. It is documented, not hidden.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Nineteen defects, each reproduced then fixed</a:t>
            </a:r>
            <a:endParaRPr lang="en-US" sz="2600" dirty="0"/>
          </a:p>
        </p:txBody>
      </p:sp>
      <p:sp>
        <p:nvSpPr>
          <p:cNvPr id="3" name="Group1"/>
          <p:cNvSpPr/>
          <p:nvPr/>
        </p:nvSpPr>
        <p:spPr>
          <a:xfrm>
            <a:off x="54864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roupTitle1"/>
          <p:cNvSpPr txBox="1"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Seeded in Treasury (9)</a:t>
            </a:r>
            <a:endParaRPr lang="en-US" sz="1500" dirty="0"/>
          </a:p>
        </p:txBody>
      </p:sp>
      <p:sp>
        <p:nvSpPr>
          <p:cNvPr id="5" name="GroupBody1"/>
          <p:cNvSpPr txBox="1"/>
          <p:nvPr/>
        </p:nvSpPr>
        <p:spPr>
          <a:xfrm>
            <a:off x="731520" y="1581912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Rust panic on short 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Rust amount truncation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Rust early-exit MAC compare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SSRF, XSS, weak RNG, CSRF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Move withdraw without capability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 workflow with four flaws</a:t>
            </a:r>
            <a:endParaRPr lang="en-US" sz="1100" dirty="0"/>
          </a:p>
        </p:txBody>
      </p:sp>
      <p:sp>
        <p:nvSpPr>
          <p:cNvPr id="6" name="Group2"/>
          <p:cNvSpPr/>
          <p:nvPr/>
        </p:nvSpPr>
        <p:spPr>
          <a:xfrm>
            <a:off x="466344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GroupTitle2"/>
          <p:cNvSpPr txBox="1"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variant analysis (1)</a:t>
            </a:r>
            <a:endParaRPr lang="en-US" sz="1500" dirty="0"/>
          </a:p>
        </p:txBody>
      </p:sp>
      <p:sp>
        <p:nvSpPr>
          <p:cNvPr id="8" name="GroupBody2"/>
          <p:cNvSpPr txBox="1"/>
          <p:nvPr/>
        </p:nvSpPr>
        <p:spPr>
          <a:xfrm>
            <a:off x="4846320" y="1581912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SSRF fix covered one function.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rule derived from it found the same bug in the webhook sender.</a:t>
            </a:r>
            <a:endParaRPr lang="en-US" sz="1100" dirty="0"/>
          </a:p>
        </p:txBody>
      </p:sp>
      <p:sp>
        <p:nvSpPr>
          <p:cNvPr id="9" name="Group3"/>
          <p:cNvSpPr/>
          <p:nvPr/>
        </p:nvSpPr>
        <p:spPr>
          <a:xfrm>
            <a:off x="54864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GroupTitle3"/>
          <p:cNvSpPr txBox="1"/>
          <p:nvPr/>
        </p:nvSpPr>
        <p:spPr>
          <a:xfrm>
            <a:off x="7315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known-clean checks (2)</a:t>
            </a:r>
            <a:endParaRPr lang="en-US" sz="1500" dirty="0"/>
          </a:p>
        </p:txBody>
      </p:sp>
      <p:sp>
        <p:nvSpPr>
          <p:cNvPr id="11" name="GroupBody3"/>
          <p:cNvSpPr txBox="1"/>
          <p:nvPr/>
        </p:nvSpPr>
        <p:spPr>
          <a:xfrm>
            <a:off x="731520" y="3319272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Move rule flagged real sui::coin helpers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Rust rule flagged the already-fixed parser</a:t>
            </a:r>
            <a:endParaRPr lang="en-US" sz="1100" dirty="0"/>
          </a:p>
        </p:txBody>
      </p:sp>
      <p:sp>
        <p:nvSpPr>
          <p:cNvPr id="12" name="Group4"/>
          <p:cNvSpPr/>
          <p:nvPr/>
        </p:nvSpPr>
        <p:spPr>
          <a:xfrm>
            <a:off x="466344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GroupTitle4"/>
          <p:cNvSpPr txBox="1"/>
          <p:nvPr/>
        </p:nvSpPr>
        <p:spPr>
          <a:xfrm>
            <a:off x="48463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in my own tooling (7)</a:t>
            </a:r>
            <a:endParaRPr lang="en-US" sz="1500" dirty="0"/>
          </a:p>
        </p:txBody>
      </p:sp>
      <p:sp>
        <p:nvSpPr>
          <p:cNvPr id="14" name="GroupBody4"/>
          <p:cNvSpPr txBox="1"/>
          <p:nvPr/>
        </p:nvSpPr>
        <p:spPr>
          <a:xfrm>
            <a:off x="4846320" y="3319272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YAML read on: as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Transposed typosquats missed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Duplicates merged distinct bugs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Subdomain brand, digit 1, thresholds, false positives</a:t>
            </a:r>
            <a:endParaRPr lang="en-US" sz="1100" dirty="0"/>
          </a:p>
        </p:txBody>
      </p:sp>
      <p:sp>
        <p:nvSpPr>
          <p:cNvPr id="15" name="IncNote"/>
          <p:cNvSpPr txBox="1"/>
          <p:nvPr/>
        </p:nvSpPr>
        <p:spPr>
          <a:xfrm>
            <a:off x="548640" y="47274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 script re-runs every reproduce and fix commit in a clean checkout to prove 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Title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shows, and what it does not</a:t>
            </a:r>
            <a:endParaRPr lang="en-US" sz="3200" dirty="0"/>
          </a:p>
        </p:txBody>
      </p:sp>
      <p:sp>
        <p:nvSpPr>
          <p:cNvPr id="3" name="ShowsText"/>
          <p:cNvSpPr txBox="1"/>
          <p:nvPr/>
        </p:nvSpPr>
        <p:spPr>
          <a:xfrm>
            <a:off x="640080" y="13716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Shows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Signature, hash and provenance verification on real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Bounty and audit workflows with a deterministic core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Variant analysis and known-clean discipline</a:t>
            </a:r>
            <a:endParaRPr lang="en-US" sz="1500" dirty="0"/>
          </a:p>
        </p:txBody>
      </p:sp>
      <p:sp>
        <p:nvSpPr>
          <p:cNvPr id="4" name="NotShownText"/>
          <p:cNvSpPr txBox="1"/>
          <p:nvPr/>
        </p:nvSpPr>
        <p:spPr>
          <a:xfrm>
            <a:off x="4754880" y="13716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Does not show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Three years of real bounty or audit work, or a CVE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Compiled Move: that code is pattern-checked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live platform, wallet, chain or language model</a:t>
            </a:r>
            <a:endParaRPr lang="en-US" sz="1500" dirty="0"/>
          </a:p>
        </p:txBody>
      </p:sp>
      <p:sp>
        <p:nvSpPr>
          <p:cNvPr id="5" name="Footer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108 tests  |  19 incidents  |  sole-author git history  |  nothing pushed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cullis">
  <a:themeElements>
    <a:clrScheme name="Portcullis">
      <a:dk1>
        <a:srgbClr val="16202E"/>
      </a:dk1>
      <a:lt1>
        <a:srgbClr val="FFFFFF"/>
      </a:lt1>
      <a:dk2>
        <a:srgbClr val="0B1F3F"/>
      </a:dk2>
      <a:lt2>
        <a:srgbClr val="EEF3FA"/>
      </a:lt2>
      <a:accent1>
        <a:srgbClr val="0B1F3F"/>
      </a:accent1>
      <a:accent2>
        <a:srgbClr val="2F7FD6"/>
      </a:accent2>
      <a:accent3>
        <a:srgbClr val="3B9C8E"/>
      </a:accent3>
      <a:accent4>
        <a:srgbClr val="7F8CA3"/>
      </a:accent4>
      <a:accent5>
        <a:srgbClr val="9FD0FF"/>
      </a:accent5>
      <a:accent6>
        <a:srgbClr val="C24B3F"/>
      </a:accent6>
      <a:hlink>
        <a:srgbClr val="2F7FD6"/>
      </a:hlink>
      <a:folHlink>
        <a:srgbClr val="3B9C8E"/>
      </a:folHlink>
    </a:clrScheme>
    <a:fontScheme name="Portcull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Portcullis Executive Summary</dc:title>
  <dc:subject>PptxGenJS Presentation</dc:subject>
  <dc:creator>Christian Kouadio Kouassi</dc:creator>
  <cp:lastModifiedBy>Christian Kouadio Kouassi</cp:lastModifiedBy>
  <cp:revision>1</cp:revision>
  <dcterms:created xsi:type="dcterms:W3CDTF">2026-10-30T02:01:17Z</dcterms:created>
  <dcterms:modified xsi:type="dcterms:W3CDTF">2026-10-30T02:01:17Z</dcterms:modified>
</cp:coreProperties>
</file>